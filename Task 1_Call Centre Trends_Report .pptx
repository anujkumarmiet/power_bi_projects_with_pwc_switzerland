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5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1FD4D-FD45-46C0-85B2-6ADA4B205577}" type="datetimeFigureOut">
              <a:rPr lang="en-IN" smtClean="0"/>
              <a:t>01-07-2025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25D474A7-C05A-4B5D-8B07-1A9E2C9E865D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2233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1FD4D-FD45-46C0-85B2-6ADA4B205577}" type="datetimeFigureOut">
              <a:rPr lang="en-IN" smtClean="0"/>
              <a:t>01-07-2025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474A7-C05A-4B5D-8B07-1A9E2C9E865D}" type="slidenum">
              <a:rPr lang="en-IN" smtClean="0"/>
              <a:t>‹#›</a:t>
            </a:fld>
            <a:endParaRPr lang="en-IN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9285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1FD4D-FD45-46C0-85B2-6ADA4B205577}" type="datetimeFigureOut">
              <a:rPr lang="en-IN" smtClean="0"/>
              <a:t>01-07-2025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474A7-C05A-4B5D-8B07-1A9E2C9E865D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2502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1FD4D-FD45-46C0-85B2-6ADA4B205577}" type="datetimeFigureOut">
              <a:rPr lang="en-IN" smtClean="0"/>
              <a:t>01-07-2025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474A7-C05A-4B5D-8B07-1A9E2C9E865D}" type="slidenum">
              <a:rPr lang="en-IN" smtClean="0"/>
              <a:t>‹#›</a:t>
            </a:fld>
            <a:endParaRPr lang="en-IN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1813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1FD4D-FD45-46C0-85B2-6ADA4B205577}" type="datetimeFigureOut">
              <a:rPr lang="en-IN" smtClean="0"/>
              <a:t>01-07-2025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474A7-C05A-4B5D-8B07-1A9E2C9E865D}" type="slidenum">
              <a:rPr lang="en-IN" smtClean="0"/>
              <a:t>‹#›</a:t>
            </a:fld>
            <a:endParaRPr lang="en-IN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80428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1FD4D-FD45-46C0-85B2-6ADA4B205577}" type="datetimeFigureOut">
              <a:rPr lang="en-IN" smtClean="0"/>
              <a:t>01-07-2025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474A7-C05A-4B5D-8B07-1A9E2C9E865D}" type="slidenum">
              <a:rPr lang="en-IN" smtClean="0"/>
              <a:t>‹#›</a:t>
            </a:fld>
            <a:endParaRPr lang="en-IN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2075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1FD4D-FD45-46C0-85B2-6ADA4B205577}" type="datetimeFigureOut">
              <a:rPr lang="en-IN" smtClean="0"/>
              <a:t>01-07-2025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474A7-C05A-4B5D-8B07-1A9E2C9E865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8079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1FD4D-FD45-46C0-85B2-6ADA4B205577}" type="datetimeFigureOut">
              <a:rPr lang="en-IN" smtClean="0"/>
              <a:t>01-07-2025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474A7-C05A-4B5D-8B07-1A9E2C9E865D}" type="slidenum">
              <a:rPr lang="en-IN" smtClean="0"/>
              <a:t>‹#›</a:t>
            </a:fld>
            <a:endParaRPr lang="en-IN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284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C681FD4D-FD45-46C0-85B2-6ADA4B205577}" type="datetimeFigureOut">
              <a:rPr lang="en-IN" smtClean="0"/>
              <a:t>01-07-2025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474A7-C05A-4B5D-8B07-1A9E2C9E865D}" type="slidenum">
              <a:rPr lang="en-IN" smtClean="0"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1744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1FD4D-FD45-46C0-85B2-6ADA4B205577}" type="datetimeFigureOut">
              <a:rPr lang="en-IN" smtClean="0"/>
              <a:t>01-07-2025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474A7-C05A-4B5D-8B07-1A9E2C9E865D}" type="slidenum">
              <a:rPr lang="en-IN" smtClean="0"/>
              <a:t>‹#›</a:t>
            </a:fld>
            <a:endParaRPr lang="en-IN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2136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1FD4D-FD45-46C0-85B2-6ADA4B205577}" type="datetimeFigureOut">
              <a:rPr lang="en-IN" smtClean="0"/>
              <a:t>01-07-2025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474A7-C05A-4B5D-8B07-1A9E2C9E865D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146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81FD4D-FD45-46C0-85B2-6ADA4B205577}" type="datetimeFigureOut">
              <a:rPr lang="en-IN" smtClean="0"/>
              <a:t>01-07-2025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25D474A7-C05A-4B5D-8B07-1A9E2C9E865D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195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1C69834E-5EEE-4D61-833E-0492889645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8E5D9BA-46E7-4BFA-9C74-75495BF6F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033D76-5800-44B6-AFE9-EE2106935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331" y="638508"/>
            <a:ext cx="10905339" cy="4843439"/>
          </a:xfrm>
          <a:prstGeom prst="rect">
            <a:avLst/>
          </a:prstGeom>
          <a:gradFill>
            <a:gsLst>
              <a:gs pos="0">
                <a:srgbClr val="000001"/>
              </a:gs>
              <a:gs pos="100000">
                <a:srgbClr val="191919"/>
              </a:gs>
            </a:gsLst>
          </a:gradFill>
          <a:ln w="76200" cmpd="sng">
            <a:noFill/>
            <a:miter lim="800000"/>
          </a:ln>
          <a:effectLst>
            <a:outerShdw blurRad="127000" dist="228600" dir="4740000" sx="98000" sy="98000" algn="tl" rotWithShape="0">
              <a:srgbClr val="000000">
                <a:alpha val="34000"/>
              </a:srgbClr>
            </a:outerShd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22D6F85-FFBA-4F81-AEE5-AAA17CB7A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0204" y="865667"/>
            <a:ext cx="10451592" cy="4389120"/>
          </a:xfrm>
          <a:prstGeom prst="rect">
            <a:avLst/>
          </a:prstGeom>
          <a:ln w="50800" cmpd="sng">
            <a:solidFill>
              <a:srgbClr val="191919"/>
            </a:solidFill>
            <a:miter lim="800000"/>
          </a:ln>
          <a:effectLst>
            <a:innerShdw blurRad="63500" dist="88900" dir="14100000">
              <a:srgbClr val="000000">
                <a:alpha val="30000"/>
              </a:srgbClr>
            </a:innerShdw>
          </a:effectLst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1">
            <a:schemeClr val="accent1"/>
          </a:lnRef>
          <a:fillRef idx="1003">
            <a:schemeClr val="dk2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3B31514-E6DF-4357-9EEA-EFB798308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4796" y="1030259"/>
            <a:ext cx="10122408" cy="4059936"/>
          </a:xfrm>
          <a:prstGeom prst="rect">
            <a:avLst/>
          </a:prstGeom>
          <a:ln>
            <a:solidFill>
              <a:srgbClr val="949494"/>
            </a:solidFill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F7ECBB-B15C-A421-DC3A-9560F1CDE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7071" y="1584552"/>
            <a:ext cx="9099255" cy="2537251"/>
          </a:xfrm>
        </p:spPr>
        <p:txBody>
          <a:bodyPr anchor="ctr">
            <a:normAutofit/>
          </a:bodyPr>
          <a:lstStyle/>
          <a:p>
            <a:pPr algn="ctr"/>
            <a:r>
              <a:rPr lang="en-IN" sz="5600">
                <a:solidFill>
                  <a:srgbClr val="454545"/>
                </a:solidFill>
              </a:rPr>
              <a:t>Power BI Job Simulation </a:t>
            </a:r>
            <a:br>
              <a:rPr lang="en-IN" sz="5600">
                <a:solidFill>
                  <a:srgbClr val="454545"/>
                </a:solidFill>
              </a:rPr>
            </a:br>
            <a:r>
              <a:rPr lang="en-IN" sz="5600">
                <a:solidFill>
                  <a:srgbClr val="454545"/>
                </a:solidFill>
              </a:rPr>
              <a:t> Pwc Switzerland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C401D57-600A-4C91-AC9A-14CA1ED6F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12BDC66-00FA-4A3F-9BC7-BE05FF770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95751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8353B-F50A-6693-F4A4-A4D9C56FB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3CBF8-8A4B-034B-9D84-7868CD943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This report presents the outcomes and insights gained from completing the </a:t>
            </a:r>
            <a:r>
              <a:rPr lang="en-US" b="1" dirty="0"/>
              <a:t>Power BI Job Simulation with PwC Switzerland</a:t>
            </a:r>
            <a:r>
              <a:rPr lang="en-US" dirty="0"/>
              <a:t>. The simulation provided a hands-on experience that mirrors real-world business scenarios, enabling me to step into the role of a data analyst tasked with transforming raw data into actionable insights.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0157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73D90-6CE5-CBA9-0B8E-9C753DC5C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My Experience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3A7C6-25FF-22D6-8C5E-60B34586D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Throughout the program, I was exposed to PwC’s approach to solving client challenges through data-driven storytelling and interactive dashboards. Using Microsoft Power BI, I analyzed customer trends, developed visualizations, and derived actionable insights to improve client decision-making and operational strategies. </a:t>
            </a:r>
          </a:p>
          <a:p>
            <a:r>
              <a:rPr lang="en-US" dirty="0"/>
              <a:t>This simulation not only strengthened my technical proficiency but also sharpened my ability to align analytics with business needs. Which is an essential skill in today’s data-centric world.</a:t>
            </a:r>
          </a:p>
          <a:p>
            <a:pPr marL="0" indent="0">
              <a:buNone/>
            </a:pP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2683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3522FE7-5A29-4EF6-B1EF-2CA55748A7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2192E09-EBC7-416C-B887-DFF915D7F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924498D-E084-44BE-A196-CFCE35564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BBC7667-C352-4842-9AFD-E5C16AD00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BF0792A-0F2B-4A2E-AB38-0A4F18A307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7DB18D-C2F1-4C8C-8808-9C01ECE683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5D935FA-3336-4941-9214-E250A5727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445671" y="644327"/>
            <a:ext cx="9299965" cy="4811366"/>
            <a:chOff x="7639235" y="600024"/>
            <a:chExt cx="3898557" cy="6878929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5D9E2ED-FF90-4200-A7EE-6D41D6526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639235" y="600024"/>
              <a:ext cx="3898557" cy="6878929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3A4BEB8D-68AD-4314-8A2B-F8DC85A530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70263" y="1062693"/>
              <a:ext cx="3635738" cy="59547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0EBDA00-5970-AF2C-A787-38ACA61C2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1408" y="1590734"/>
            <a:ext cx="7405874" cy="2520012"/>
          </a:xfrm>
          <a:solidFill>
            <a:schemeClr val="bg2"/>
          </a:solidFill>
        </p:spPr>
        <p:txBody>
          <a:bodyPr vert="horz" lIns="91440" tIns="45720" rIns="91440" bIns="0" rtlCol="0" anchor="ctr">
            <a:normAutofit/>
          </a:bodyPr>
          <a:lstStyle/>
          <a:p>
            <a:pPr algn="ctr"/>
            <a:r>
              <a:rPr lang="en-US" sz="6000">
                <a:solidFill>
                  <a:schemeClr val="tx2"/>
                </a:solidFill>
              </a:rPr>
              <a:t>📞 Task 1: Analyzing Call Centre Trend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7F797D1-251E-41FE-9FF8-AD487DEF2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391407" y="1416139"/>
            <a:ext cx="740587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9A0CE28-0E59-4F4D-9855-8A8DCE9A8E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391407" y="4285341"/>
            <a:ext cx="740587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7" name="Picture 36">
            <a:extLst>
              <a:ext uri="{FF2B5EF4-FFF2-40B4-BE49-F238E27FC236}">
                <a16:creationId xmlns:a16="http://schemas.microsoft.com/office/drawing/2014/main" id="{75CC23F7-9F20-4C4B-8608-BD4DE9728F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369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13153-5C28-7127-452A-AE54C9B65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9E4B5-3E79-E9B1-F478-269881ACF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first task involved analyzing customer service performance for a fictional client by uncovering key trends in call center operations. Using Microsoft Power BI, I explored call volume patterns, agent responsiveness, and satisfaction scores to pinpoint inefficiencies and service bottlenecks.</a:t>
            </a:r>
          </a:p>
          <a:p>
            <a:r>
              <a:rPr lang="en-US" dirty="0"/>
              <a:t>This task focused on transforming raw data into a meaningful dashboard that could help stakeholders monitor KPIs, identify underperforming agents, and make strategic decisions to enhance customer experience and service delivery. The ability to segment performance over time enabled a comprehensive understanding of workload distribution and operational consistency.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3269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91734-0ACF-A8C2-252A-DDF40F1BF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📚 Dataset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D1C01-F53A-3E3C-D3DB-890D58C60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The dataset used for this project represents operational data from </a:t>
            </a:r>
            <a:r>
              <a:rPr lang="en-US" b="1" dirty="0" err="1"/>
              <a:t>PhoneNow’s</a:t>
            </a:r>
            <a:r>
              <a:rPr lang="en-US" b="1" dirty="0"/>
              <a:t> Call Centre</a:t>
            </a:r>
            <a:r>
              <a:rPr lang="en-US" dirty="0"/>
              <a:t>, comprising approximately </a:t>
            </a:r>
            <a:r>
              <a:rPr lang="en-US" b="1" dirty="0"/>
              <a:t>47,000 records</a:t>
            </a:r>
            <a:r>
              <a:rPr lang="en-US" dirty="0"/>
              <a:t> and spanning </a:t>
            </a:r>
            <a:r>
              <a:rPr lang="en-US" b="1" dirty="0"/>
              <a:t>8 key attributes</a:t>
            </a:r>
            <a:r>
              <a:rPr lang="en-US" dirty="0"/>
              <a:t>. This rich dataset provides insight into daily call activity, customer interactions, agent responsiveness, and service quality.</a:t>
            </a:r>
          </a:p>
          <a:p>
            <a:pPr marL="0" indent="0">
              <a:buNone/>
            </a:pPr>
            <a:r>
              <a:rPr lang="en-US" dirty="0"/>
              <a:t>Each record corresponds to an individual customer call and contains the following attributes:</a:t>
            </a:r>
          </a:p>
          <a:p>
            <a:r>
              <a:rPr lang="en-US" b="1" dirty="0"/>
              <a:t>Date</a:t>
            </a:r>
            <a:r>
              <a:rPr lang="en-US" dirty="0"/>
              <a:t> – The date when the call took place.</a:t>
            </a:r>
          </a:p>
          <a:p>
            <a:r>
              <a:rPr lang="en-US" b="1" dirty="0"/>
              <a:t>Time</a:t>
            </a:r>
            <a:r>
              <a:rPr lang="en-US" dirty="0"/>
              <a:t> – The timestamp indicating when the call was initiated.</a:t>
            </a:r>
          </a:p>
          <a:p>
            <a:r>
              <a:rPr lang="en-US" b="1" dirty="0"/>
              <a:t>Topic</a:t>
            </a:r>
            <a:r>
              <a:rPr lang="en-US" dirty="0"/>
              <a:t> – The nature of the customer inquiry (e.g., Admin Support, Technical Support, Payment, Contract).</a:t>
            </a:r>
          </a:p>
          <a:p>
            <a:r>
              <a:rPr lang="en-US" b="1" dirty="0"/>
              <a:t>Answered (Y/N)</a:t>
            </a:r>
            <a:r>
              <a:rPr lang="en-US" dirty="0"/>
              <a:t> – Indicates whether the call was answered by an agent.</a:t>
            </a:r>
          </a:p>
          <a:p>
            <a:r>
              <a:rPr lang="en-US" b="1" dirty="0"/>
              <a:t>Resolved (Y/N)</a:t>
            </a:r>
            <a:r>
              <a:rPr lang="en-US" dirty="0"/>
              <a:t> – Captures whether the customer issue was resolved during the call.</a:t>
            </a:r>
          </a:p>
          <a:p>
            <a:r>
              <a:rPr lang="en-US" b="1" dirty="0"/>
              <a:t>Speed of Answer (in seconds)</a:t>
            </a:r>
            <a:r>
              <a:rPr lang="en-US" dirty="0"/>
              <a:t> – Time taken for an agent to answer the incoming call.</a:t>
            </a:r>
          </a:p>
          <a:p>
            <a:r>
              <a:rPr lang="en-US" b="1" dirty="0"/>
              <a:t>Average Talk Duration</a:t>
            </a:r>
            <a:r>
              <a:rPr lang="en-US" dirty="0"/>
              <a:t> – The average length of time the agent and customer conversed.</a:t>
            </a:r>
          </a:p>
          <a:p>
            <a:r>
              <a:rPr lang="en-US" b="1" dirty="0"/>
              <a:t>Satisfaction Rating</a:t>
            </a:r>
            <a:r>
              <a:rPr lang="en-US" dirty="0"/>
              <a:t> – A customer-provided score reflecting their service </a:t>
            </a:r>
            <a:r>
              <a:rPr lang="en-US" dirty="0" err="1"/>
              <a:t>experien</a:t>
            </a:r>
            <a:r>
              <a:rPr lang="en-IN" dirty="0" err="1"/>
              <a:t>ce</a:t>
            </a:r>
            <a:r>
              <a:rPr lang="en-IN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5154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Rectangle 2054">
            <a:extLst>
              <a:ext uri="{FF2B5EF4-FFF2-40B4-BE49-F238E27FC236}">
                <a16:creationId xmlns:a16="http://schemas.microsoft.com/office/drawing/2014/main" id="{84C75E2B-CACA-478C-B26B-182AF87A1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2057" name="Picture 2056">
            <a:extLst>
              <a:ext uri="{FF2B5EF4-FFF2-40B4-BE49-F238E27FC236}">
                <a16:creationId xmlns:a16="http://schemas.microsoft.com/office/drawing/2014/main" id="{50FF2874-547C-4D14-9E18-28B19002FB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059" name="Straight Connector 2058">
            <a:extLst>
              <a:ext uri="{FF2B5EF4-FFF2-40B4-BE49-F238E27FC236}">
                <a16:creationId xmlns:a16="http://schemas.microsoft.com/office/drawing/2014/main" id="{36CF827D-A163-47F7-BD87-34EB4FA7D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1" name="Straight Connector 2060">
            <a:extLst>
              <a:ext uri="{FF2B5EF4-FFF2-40B4-BE49-F238E27FC236}">
                <a16:creationId xmlns:a16="http://schemas.microsoft.com/office/drawing/2014/main" id="{D299D9A9-1DA8-433D-A9BC-FB48D93D42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063" name="Rectangle 2062">
            <a:extLst>
              <a:ext uri="{FF2B5EF4-FFF2-40B4-BE49-F238E27FC236}">
                <a16:creationId xmlns:a16="http://schemas.microsoft.com/office/drawing/2014/main" id="{E5204C30-4ABA-4B2E-9D2B-9BEB77E444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5" name="Rectangle 2064">
            <a:extLst>
              <a:ext uri="{FF2B5EF4-FFF2-40B4-BE49-F238E27FC236}">
                <a16:creationId xmlns:a16="http://schemas.microsoft.com/office/drawing/2014/main" id="{60D2F65F-F91E-49D5-A1AD-D5B532905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612E60-EE67-4033-3251-FCFFD6C8D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0960" y="1474969"/>
            <a:ext cx="2853278" cy="315167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Dashboard</a:t>
            </a:r>
          </a:p>
        </p:txBody>
      </p:sp>
      <p:grpSp>
        <p:nvGrpSpPr>
          <p:cNvPr id="2067" name="Group 2066">
            <a:extLst>
              <a:ext uri="{FF2B5EF4-FFF2-40B4-BE49-F238E27FC236}">
                <a16:creationId xmlns:a16="http://schemas.microsoft.com/office/drawing/2014/main" id="{D0BDFEB6-D2AA-410C-A693-EA7E9BBA3B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2237" y="482170"/>
            <a:ext cx="7560115" cy="5149101"/>
            <a:chOff x="7463258" y="583365"/>
            <a:chExt cx="7560115" cy="5181928"/>
          </a:xfrm>
        </p:grpSpPr>
        <p:sp>
          <p:nvSpPr>
            <p:cNvPr id="2068" name="Rectangle 2067">
              <a:extLst>
                <a:ext uri="{FF2B5EF4-FFF2-40B4-BE49-F238E27FC236}">
                  <a16:creationId xmlns:a16="http://schemas.microsoft.com/office/drawing/2014/main" id="{F57821D8-3BF6-4948-8A87-8BBC164E4C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3258" y="583365"/>
              <a:ext cx="7560115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Rectangle 2068">
              <a:extLst>
                <a:ext uri="{FF2B5EF4-FFF2-40B4-BE49-F238E27FC236}">
                  <a16:creationId xmlns:a16="http://schemas.microsoft.com/office/drawing/2014/main" id="{90732DBE-4BC5-4FB2-8BF7-DE447BE6D8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76317" y="915807"/>
              <a:ext cx="6928279" cy="4494927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050" name="Picture 2" descr="Screenshot 2024-09-24 150853">
            <a:extLst>
              <a:ext uri="{FF2B5EF4-FFF2-40B4-BE49-F238E27FC236}">
                <a16:creationId xmlns:a16="http://schemas.microsoft.com/office/drawing/2014/main" id="{FD138F45-C6B8-3B23-4143-45A0A615A3C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271222" y="1353042"/>
            <a:ext cx="6282918" cy="3392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1" name="Picture 2070">
            <a:extLst>
              <a:ext uri="{FF2B5EF4-FFF2-40B4-BE49-F238E27FC236}">
                <a16:creationId xmlns:a16="http://schemas.microsoft.com/office/drawing/2014/main" id="{7CBA4719-C30A-462C-A3A7-5D93A2B30C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073" name="Straight Connector 2072">
            <a:extLst>
              <a:ext uri="{FF2B5EF4-FFF2-40B4-BE49-F238E27FC236}">
                <a16:creationId xmlns:a16="http://schemas.microsoft.com/office/drawing/2014/main" id="{F30857DA-DEF8-4780-BECA-1C22053442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0704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C4C7E-7B25-A2C0-1852-A7F7F0240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📊 Key Insights from Call Centre Dashboard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20DF5-0E6C-F2A0-5E14-BF1F25AAB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b="1" dirty="0"/>
              <a:t>Agent Efficiency &amp; Performance</a:t>
            </a:r>
            <a:endParaRPr lang="en-US" dirty="0"/>
          </a:p>
          <a:p>
            <a:r>
              <a:rPr lang="en-US" b="1" dirty="0"/>
              <a:t>Jim</a:t>
            </a:r>
            <a:r>
              <a:rPr lang="en-US" dirty="0"/>
              <a:t> leads in both calls answered (536) and issues resolved (485), making him a benchmark for team productivity.</a:t>
            </a:r>
          </a:p>
          <a:p>
            <a:r>
              <a:rPr lang="en-US" b="1" dirty="0"/>
              <a:t>Martha</a:t>
            </a:r>
            <a:r>
              <a:rPr lang="en-US" dirty="0"/>
              <a:t> has the highest satisfaction rating (3.47), suggesting strong customer interaction skills. </a:t>
            </a:r>
          </a:p>
          <a:p>
            <a:r>
              <a:rPr lang="en-US" b="1" dirty="0"/>
              <a:t>Joe</a:t>
            </a:r>
            <a:r>
              <a:rPr lang="en-US" dirty="0"/>
              <a:t> has the lowest satisfaction (3.33) and longest speed of answer (70.99 sec), signaling a need for coaching.</a:t>
            </a:r>
          </a:p>
          <a:p>
            <a:pPr marL="0" indent="0">
              <a:buNone/>
            </a:pPr>
            <a:r>
              <a:rPr lang="en-US" b="1" dirty="0"/>
              <a:t>Operational Trends Over Time</a:t>
            </a:r>
            <a:endParaRPr lang="en-US" dirty="0"/>
          </a:p>
          <a:p>
            <a:r>
              <a:rPr lang="en-US" dirty="0"/>
              <a:t>March saw a </a:t>
            </a:r>
            <a:r>
              <a:rPr lang="en-US" b="1" dirty="0"/>
              <a:t>slight increase in answered calls</a:t>
            </a:r>
            <a:r>
              <a:rPr lang="en-US" dirty="0"/>
              <a:t> compared to February, hinting at possible improvements in coverage.</a:t>
            </a:r>
          </a:p>
          <a:p>
            <a:r>
              <a:rPr lang="en-US" dirty="0"/>
              <a:t>However, </a:t>
            </a:r>
            <a:r>
              <a:rPr lang="en-US" b="1" dirty="0"/>
              <a:t>unanswered calls remain consistent</a:t>
            </a:r>
            <a:r>
              <a:rPr lang="en-US" dirty="0"/>
              <a:t> (310 per month), indicating a persistent capacity issue.</a:t>
            </a:r>
          </a:p>
          <a:p>
            <a:pPr marL="0" indent="0">
              <a:buNone/>
            </a:pPr>
            <a:r>
              <a:rPr lang="en-US" b="1" dirty="0"/>
              <a:t>Customer Experience</a:t>
            </a:r>
            <a:endParaRPr lang="en-US" dirty="0"/>
          </a:p>
          <a:p>
            <a:r>
              <a:rPr lang="en-US" dirty="0"/>
              <a:t>The average </a:t>
            </a:r>
            <a:r>
              <a:rPr lang="en-US" b="1" dirty="0"/>
              <a:t>Speed of Answer is 67.52 seconds</a:t>
            </a:r>
            <a:r>
              <a:rPr lang="en-US" dirty="0"/>
              <a:t>, which may be too long for high-volume support environments—opportunity to streamline call routing or staffing.</a:t>
            </a:r>
          </a:p>
          <a:p>
            <a:r>
              <a:rPr lang="en-US" b="1" dirty="0"/>
              <a:t>Satisfaction is moderate at 3.40/5</a:t>
            </a:r>
            <a:r>
              <a:rPr lang="en-US" dirty="0"/>
              <a:t>, with room to boost overall service quality through agent training and tech support improvement.</a:t>
            </a:r>
          </a:p>
          <a:p>
            <a:pPr marL="0" indent="0">
              <a:buNone/>
            </a:pPr>
            <a:r>
              <a:rPr lang="en-US" b="1" dirty="0"/>
              <a:t>Resolution Gaps</a:t>
            </a:r>
            <a:endParaRPr lang="en-US" dirty="0"/>
          </a:p>
          <a:p>
            <a:r>
              <a:rPr lang="en-US" dirty="0"/>
              <a:t>Nearly </a:t>
            </a:r>
            <a:r>
              <a:rPr lang="en-US" b="1" dirty="0"/>
              <a:t>27% of calls go unresolved</a:t>
            </a:r>
            <a:r>
              <a:rPr lang="en-US" dirty="0"/>
              <a:t>, which may impact churn and customer loyalty—this should trigger deeper root cause analysis.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3649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EF9D5-684E-3DBF-CA5A-32EB8AA59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Recommendations for Stakeholders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C7832-9D2A-5056-693D-1648E80DAC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Recognize top performers like Jim and Martha to reinforce productivity and customer satisfaction culture.</a:t>
            </a:r>
          </a:p>
          <a:p>
            <a:r>
              <a:rPr lang="en-US" dirty="0"/>
              <a:t>Coach underperforming agents, particularly Joe, to reduce response time and improve satisfaction.</a:t>
            </a:r>
          </a:p>
          <a:p>
            <a:r>
              <a:rPr lang="en-US" dirty="0"/>
              <a:t>Improve call handling capacity by analyzing staffing gaps, especially during peak hours with high unanswered calls.</a:t>
            </a:r>
          </a:p>
          <a:p>
            <a:r>
              <a:rPr lang="en-US" dirty="0"/>
              <a:t>Launch quality enhancement initiatives to reduce unresolved cases and uplift overall service standards.</a:t>
            </a:r>
          </a:p>
          <a:p>
            <a:r>
              <a:rPr lang="en-US" dirty="0"/>
              <a:t>Streamline call response workflows to bring average speed of answer below 60 seconds.</a:t>
            </a:r>
          </a:p>
          <a:p>
            <a:r>
              <a:rPr lang="en-US" dirty="0"/>
              <a:t>Monitor satisfaction trends continuously and integrate feedback loops for service improvement.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9277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3522FE7-5A29-4EF6-B1EF-2CA55748A7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2192E09-EBC7-416C-B887-DFF915D7F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924498D-E084-44BE-A196-CFCE35564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BBC7667-C352-4842-9AFD-E5C16AD00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C69834E-5EEE-4D61-833E-0492889645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8E5D9BA-46E7-4BFA-9C74-75495BF6F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033D76-5800-44B6-AFE9-EE2106935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331" y="638508"/>
            <a:ext cx="10905339" cy="4843439"/>
          </a:xfrm>
          <a:prstGeom prst="rect">
            <a:avLst/>
          </a:prstGeom>
          <a:gradFill>
            <a:gsLst>
              <a:gs pos="0">
                <a:srgbClr val="000001"/>
              </a:gs>
              <a:gs pos="100000">
                <a:srgbClr val="191919"/>
              </a:gs>
            </a:gsLst>
          </a:gradFill>
          <a:ln w="76200" cmpd="sng">
            <a:noFill/>
            <a:miter lim="800000"/>
          </a:ln>
          <a:effectLst>
            <a:outerShdw blurRad="127000" dist="228600" dir="4740000" sx="98000" sy="98000" algn="tl" rotWithShape="0">
              <a:srgbClr val="000000">
                <a:alpha val="34000"/>
              </a:srgbClr>
            </a:outerShd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2D6F85-FFBA-4F81-AEE5-AAA17CB7A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0204" y="865667"/>
            <a:ext cx="10451592" cy="4389120"/>
          </a:xfrm>
          <a:prstGeom prst="rect">
            <a:avLst/>
          </a:prstGeom>
          <a:ln w="50800" cmpd="sng">
            <a:solidFill>
              <a:srgbClr val="191919"/>
            </a:solidFill>
            <a:miter lim="800000"/>
          </a:ln>
          <a:effectLst>
            <a:innerShdw blurRad="63500" dist="88900" dir="14100000">
              <a:srgbClr val="000000">
                <a:alpha val="30000"/>
              </a:srgbClr>
            </a:innerShdw>
          </a:effectLst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1">
            <a:schemeClr val="accent1"/>
          </a:lnRef>
          <a:fillRef idx="1003">
            <a:schemeClr val="dk2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3B31514-E6DF-4357-9EEA-EFB798308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4796" y="1030259"/>
            <a:ext cx="10122408" cy="4059936"/>
          </a:xfrm>
          <a:prstGeom prst="rect">
            <a:avLst/>
          </a:prstGeom>
          <a:ln>
            <a:solidFill>
              <a:srgbClr val="949494"/>
            </a:solidFill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5293F9-5739-C3CD-4CC7-520FF29B8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071" y="1584552"/>
            <a:ext cx="9099255" cy="2537251"/>
          </a:xfrm>
        </p:spPr>
        <p:txBody>
          <a:bodyPr vert="horz" lIns="91440" tIns="45720" rIns="91440" bIns="0" rtlCol="0" anchor="ctr">
            <a:normAutofit/>
          </a:bodyPr>
          <a:lstStyle/>
          <a:p>
            <a:pPr algn="ctr"/>
            <a:r>
              <a:rPr lang="en-US" sz="7200">
                <a:solidFill>
                  <a:srgbClr val="454545"/>
                </a:solidFill>
              </a:rPr>
              <a:t>Thank You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C401D57-600A-4C91-AC9A-14CA1ED6F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12BDC66-00FA-4A3F-9BC7-BE05FF770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4445188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TM10001114[[fn=Gallery]]</Template>
  <TotalTime>104</TotalTime>
  <Words>713</Words>
  <Application>Microsoft Office PowerPoint</Application>
  <PresentationFormat>Widescreen</PresentationFormat>
  <Paragraphs>43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Gill Sans MT</vt:lpstr>
      <vt:lpstr>Gallery</vt:lpstr>
      <vt:lpstr>Power BI Job Simulation   Pwc Switzerland</vt:lpstr>
      <vt:lpstr>Introduction</vt:lpstr>
      <vt:lpstr>My Experience</vt:lpstr>
      <vt:lpstr>📞 Task 1: Analyzing Call Centre Trend</vt:lpstr>
      <vt:lpstr>Overview</vt:lpstr>
      <vt:lpstr>📚 Dataset Introduction</vt:lpstr>
      <vt:lpstr>Dashboard</vt:lpstr>
      <vt:lpstr>📊 Key Insights from Call Centre Dashboard </vt:lpstr>
      <vt:lpstr>✅ Recommendations for Stakeholders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Shubham Kumar</dc:creator>
  <cp:lastModifiedBy>Shubham Kumar</cp:lastModifiedBy>
  <cp:revision>1</cp:revision>
  <dcterms:created xsi:type="dcterms:W3CDTF">2025-07-01T11:47:03Z</dcterms:created>
  <dcterms:modified xsi:type="dcterms:W3CDTF">2025-07-01T13:31:30Z</dcterms:modified>
</cp:coreProperties>
</file>