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23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28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50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81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04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07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07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8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74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136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14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6FF8-A9B2-4AF2-912F-65A7460B5A9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269BB-BE1A-4294-92B8-5A0AE6104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08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1FD4D-FD45-46C0-85B2-6ADA4B205577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5D474A7-C05A-4B5D-8B07-1A9E2C9E865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95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A86FF8-A9B2-4AF2-912F-65A7460B5A9A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0269BB-BE1A-4294-92B8-5A0AE6104C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69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hyperlink" Target="https://tpcj.org/" TargetMode="External"/><Relationship Id="rId3" Type="http://schemas.openxmlformats.org/officeDocument/2006/relationships/image" Target="../media/image8.png"/><Relationship Id="rId7" Type="http://schemas.openxmlformats.org/officeDocument/2006/relationships/hyperlink" Target="https://anujkumarmiet.github.io/personal-portfolio/" TargetMode="External"/><Relationship Id="rId12" Type="http://schemas.openxmlformats.org/officeDocument/2006/relationships/image" Target="../media/image12.jpg"/><Relationship Id="rId2" Type="http://schemas.openxmlformats.org/officeDocument/2006/relationships/image" Target="../media/image3.jpeg"/><Relationship Id="rId16" Type="http://schemas.openxmlformats.org/officeDocument/2006/relationships/hyperlink" Target="https://jonasnick.github.io/blog/2013/10/14/influence-of-reputation-on-gricean-maxims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hyperlink" Target="https://www.linkedin.com/in/anuj-kumar-2129101b2/" TargetMode="External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hyperlink" Target="https://svgsilh.com/de/image/2172744.html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svg"/><Relationship Id="rId14" Type="http://schemas.openxmlformats.org/officeDocument/2006/relationships/hyperlink" Target="https://github.com/anujkumarmi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7ECBB-B15C-A421-DC3A-9560F1CDE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IN" sz="5600" dirty="0">
                <a:solidFill>
                  <a:srgbClr val="454545"/>
                </a:solidFill>
              </a:rPr>
              <a:t>Power BI Job Simulation </a:t>
            </a:r>
            <a:br>
              <a:rPr lang="en-IN" sz="5600" dirty="0">
                <a:solidFill>
                  <a:srgbClr val="454545"/>
                </a:solidFill>
              </a:rPr>
            </a:br>
            <a:r>
              <a:rPr lang="en-IN" sz="5600" dirty="0">
                <a:solidFill>
                  <a:srgbClr val="454545"/>
                </a:solidFill>
              </a:rPr>
              <a:t> </a:t>
            </a:r>
            <a:r>
              <a:rPr lang="en-IN" sz="5600" dirty="0" err="1">
                <a:solidFill>
                  <a:srgbClr val="454545"/>
                </a:solidFill>
              </a:rPr>
              <a:t>Pwc</a:t>
            </a:r>
            <a:r>
              <a:rPr lang="en-IN" sz="5600" dirty="0">
                <a:solidFill>
                  <a:srgbClr val="454545"/>
                </a:solidFill>
              </a:rPr>
              <a:t> Switzerland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B097715-5C51-35E1-29B3-3FD425DCAD77}"/>
              </a:ext>
            </a:extLst>
          </p:cNvPr>
          <p:cNvSpPr txBox="1"/>
          <p:nvPr/>
        </p:nvSpPr>
        <p:spPr>
          <a:xfrm>
            <a:off x="8499764" y="4144334"/>
            <a:ext cx="2576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Felix Titling" panose="04060505060202020A04" pitchFamily="82" charset="0"/>
              </a:rPr>
              <a:t>Anuj Kumar</a:t>
            </a:r>
          </a:p>
          <a:p>
            <a:r>
              <a:rPr lang="en-IN" dirty="0">
                <a:latin typeface="Felix Titling" panose="04060505060202020A04" pitchFamily="82" charset="0"/>
              </a:rPr>
              <a:t>The Data Analyst</a:t>
            </a:r>
          </a:p>
          <a:p>
            <a:r>
              <a:rPr lang="en-IN" dirty="0" err="1">
                <a:latin typeface="Felix Titling" panose="04060505060202020A04" pitchFamily="82" charset="0"/>
              </a:rPr>
              <a:t>B.Tech</a:t>
            </a:r>
            <a:r>
              <a:rPr lang="en-IN" dirty="0">
                <a:latin typeface="Felix Titling" panose="04060505060202020A04" pitchFamily="82" charset="0"/>
              </a:rPr>
              <a:t> CSE</a:t>
            </a:r>
          </a:p>
        </p:txBody>
      </p:sp>
    </p:spTree>
    <p:extLst>
      <p:ext uri="{BB962C8B-B14F-4D97-AF65-F5344CB8AC3E}">
        <p14:creationId xmlns:p14="http://schemas.microsoft.com/office/powerpoint/2010/main" val="204957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353B-F50A-6693-F4A4-A4D9C56F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CBF8-8A4B-034B-9D84-7868CD943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report presents the outcomes and insights gained from completing the </a:t>
            </a:r>
            <a:r>
              <a:rPr lang="en-US" b="1" dirty="0"/>
              <a:t>Power BI Job Simulation with PwC Switzerland</a:t>
            </a:r>
            <a:r>
              <a:rPr lang="en-US" dirty="0"/>
              <a:t>. The simulation provided a hands-on experience that mirrors real-world business scenarios, enabling me to step into the role of a data analyst tasked with transforming raw data into actionable insights.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15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3D90-6CE5-CBA9-0B8E-9C753DC5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3A7C6-25FF-22D6-8C5E-60B34586D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Throughout the program, I was exposed to PwC’s approach to solving client challenges through data-driven storytelling and interactive dashboards. Using Microsoft Power BI, I analyzed customer trends, developed visualizations, and derived actionable insights to improve client decision-making and operational strategies. </a:t>
            </a:r>
          </a:p>
          <a:p>
            <a:r>
              <a:rPr lang="en-US" dirty="0"/>
              <a:t>This simulation not only strengthened my technical proficiency but also sharpened my ability to align analytics with business needs. Which is an essential skill in today’s data-centric world.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683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EBDA00-5970-AF2C-A787-38ACA61C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6000">
                <a:solidFill>
                  <a:schemeClr val="tx2"/>
                </a:solidFill>
              </a:rPr>
              <a:t>📞 Task 1: Analyzing Call Centre Trend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6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13153-5C28-7127-452A-AE54C9B6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9E4B5-3E79-E9B1-F478-269881AC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first task involved analyzing customer service performance for a fictional client by uncovering key trends in call center operations. Using Microsoft Power BI, I explored call volume patterns, agent responsiveness, and satisfaction scores to pinpoint inefficiencies and service bottlenecks.</a:t>
            </a:r>
          </a:p>
          <a:p>
            <a:r>
              <a:rPr lang="en-US" dirty="0"/>
              <a:t>This task focused on transforming raw data into a meaningful dashboard that could help stakeholders monitor KPIs, identify underperforming agents, and make strategic decisions to enhance customer experience and service delivery. The ability to segment performance over time enabled a comprehensive understanding of workload distribution and operational consistency.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26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91734-0ACF-A8C2-252A-DDF40F1B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📚 Dataset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1C01-F53A-3E3C-D3DB-890D58C60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The dataset used for this project represents operational data from </a:t>
            </a:r>
            <a:r>
              <a:rPr lang="en-US" b="1" dirty="0" err="1"/>
              <a:t>PhoneNow’s</a:t>
            </a:r>
            <a:r>
              <a:rPr lang="en-US" b="1" dirty="0"/>
              <a:t> Call Centre</a:t>
            </a:r>
            <a:r>
              <a:rPr lang="en-US" dirty="0"/>
              <a:t>, comprising approximately </a:t>
            </a:r>
            <a:r>
              <a:rPr lang="en-US" b="1" dirty="0"/>
              <a:t>47,000 records</a:t>
            </a:r>
            <a:r>
              <a:rPr lang="en-US" dirty="0"/>
              <a:t> and spanning </a:t>
            </a:r>
            <a:r>
              <a:rPr lang="en-US" b="1" dirty="0"/>
              <a:t>8 key attributes</a:t>
            </a:r>
            <a:r>
              <a:rPr lang="en-US" dirty="0"/>
              <a:t>. This rich dataset provides insight into daily call activity, customer interactions, agent responsiveness, and service quality.</a:t>
            </a:r>
          </a:p>
          <a:p>
            <a:pPr marL="0" indent="0">
              <a:buNone/>
            </a:pPr>
            <a:r>
              <a:rPr lang="en-US" dirty="0"/>
              <a:t>Each record corresponds to an individual customer call and contains the following attributes:</a:t>
            </a:r>
          </a:p>
          <a:p>
            <a:r>
              <a:rPr lang="en-US" b="1" dirty="0"/>
              <a:t>Date</a:t>
            </a:r>
            <a:r>
              <a:rPr lang="en-US" dirty="0"/>
              <a:t> – The date when the call took place.</a:t>
            </a:r>
          </a:p>
          <a:p>
            <a:r>
              <a:rPr lang="en-US" b="1" dirty="0"/>
              <a:t>Time</a:t>
            </a:r>
            <a:r>
              <a:rPr lang="en-US" dirty="0"/>
              <a:t> – The timestamp indicating when the call was initiated.</a:t>
            </a:r>
          </a:p>
          <a:p>
            <a:r>
              <a:rPr lang="en-US" b="1" dirty="0"/>
              <a:t>Topic</a:t>
            </a:r>
            <a:r>
              <a:rPr lang="en-US" dirty="0"/>
              <a:t> – The nature of the customer inquiry (e.g., Admin Support, Technical Support, Payment, Contract).</a:t>
            </a:r>
          </a:p>
          <a:p>
            <a:r>
              <a:rPr lang="en-US" b="1" dirty="0"/>
              <a:t>Answered (Y/N)</a:t>
            </a:r>
            <a:r>
              <a:rPr lang="en-US" dirty="0"/>
              <a:t> – Indicates whether the call was answered by an agent.</a:t>
            </a:r>
          </a:p>
          <a:p>
            <a:r>
              <a:rPr lang="en-US" b="1" dirty="0"/>
              <a:t>Resolved (Y/N)</a:t>
            </a:r>
            <a:r>
              <a:rPr lang="en-US" dirty="0"/>
              <a:t> – Captures whether the customer issue was resolved during the call.</a:t>
            </a:r>
          </a:p>
          <a:p>
            <a:r>
              <a:rPr lang="en-US" b="1" dirty="0"/>
              <a:t>Speed of Answer (in seconds)</a:t>
            </a:r>
            <a:r>
              <a:rPr lang="en-US" dirty="0"/>
              <a:t> – Time taken for an agent to answer the incoming call.</a:t>
            </a:r>
          </a:p>
          <a:p>
            <a:r>
              <a:rPr lang="en-US" b="1" dirty="0"/>
              <a:t>Average Talk Duration</a:t>
            </a:r>
            <a:r>
              <a:rPr lang="en-US" dirty="0"/>
              <a:t> – The average length of time the agent and customer conversed.</a:t>
            </a:r>
          </a:p>
          <a:p>
            <a:r>
              <a:rPr lang="en-US" b="1" dirty="0"/>
              <a:t>Satisfaction Rating</a:t>
            </a:r>
            <a:r>
              <a:rPr lang="en-US" dirty="0"/>
              <a:t> – A customer-provided score reflecting their service </a:t>
            </a:r>
            <a:r>
              <a:rPr lang="en-US" dirty="0" err="1"/>
              <a:t>experien</a:t>
            </a:r>
            <a:r>
              <a:rPr lang="en-IN" dirty="0" err="1"/>
              <a:t>ce</a:t>
            </a:r>
            <a:r>
              <a:rPr lang="en-IN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9B7B2-5321-6A46-5CC3-08BBD4F37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059" y="2436144"/>
            <a:ext cx="2149026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5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D49D-01A6-B132-F0B5-88D35C63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Dax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0E19-2CCC-5692-212E-A6F5B3FB0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of answered = Calculate(</a:t>
            </a:r>
            <a:r>
              <a:rPr lang="en-US" dirty="0" err="1"/>
              <a:t>distinctcount</a:t>
            </a:r>
            <a:r>
              <a:rPr lang="en-US" dirty="0"/>
              <a:t>('Call Center'[Call Id]),Filter('Call </a:t>
            </a:r>
            <a:r>
              <a:rPr lang="en-US" dirty="0" err="1"/>
              <a:t>Center','Call</a:t>
            </a:r>
            <a:r>
              <a:rPr lang="en-US" dirty="0"/>
              <a:t> Center'[Answered (Y/N)]="Y"))</a:t>
            </a:r>
          </a:p>
          <a:p>
            <a:r>
              <a:rPr lang="en-US" dirty="0"/>
              <a:t># of resolved = Calculate(</a:t>
            </a:r>
            <a:r>
              <a:rPr lang="en-US" dirty="0" err="1"/>
              <a:t>distinctcount</a:t>
            </a:r>
            <a:r>
              <a:rPr lang="en-US" dirty="0"/>
              <a:t>('Call Center'[Call Id]),Filter('Call </a:t>
            </a:r>
            <a:r>
              <a:rPr lang="en-US" dirty="0" err="1"/>
              <a:t>Center','Call</a:t>
            </a:r>
            <a:r>
              <a:rPr lang="en-US" dirty="0"/>
              <a:t> Center'[Resolved]="Y"))</a:t>
            </a:r>
          </a:p>
          <a:p>
            <a:r>
              <a:rPr lang="en-IN" dirty="0"/>
              <a:t>Target Value Satisfaction = 4.5</a:t>
            </a:r>
          </a:p>
        </p:txBody>
      </p:sp>
    </p:spTree>
    <p:extLst>
      <p:ext uri="{BB962C8B-B14F-4D97-AF65-F5344CB8AC3E}">
        <p14:creationId xmlns:p14="http://schemas.microsoft.com/office/powerpoint/2010/main" val="48545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84C75E2B-CACA-478C-B26B-182AF87A1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50FF2874-547C-4D14-9E18-28B19002F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36CF827D-A163-47F7-BD87-34EB4FA7D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D299D9A9-1DA8-433D-A9BC-FB48D93D4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E5204C30-4ABA-4B2E-9D2B-9BEB77E4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60D2F65F-F91E-49D5-A1AD-D5B532905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12E60-EE67-4033-3251-FCFFD6C8D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960" y="1474969"/>
            <a:ext cx="2853278" cy="31516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Dashboard</a:t>
            </a:r>
          </a:p>
        </p:txBody>
      </p:sp>
      <p:grpSp>
        <p:nvGrpSpPr>
          <p:cNvPr id="2067" name="Group 2066">
            <a:extLst>
              <a:ext uri="{FF2B5EF4-FFF2-40B4-BE49-F238E27FC236}">
                <a16:creationId xmlns:a16="http://schemas.microsoft.com/office/drawing/2014/main" id="{D0BDFEB6-D2AA-410C-A693-EA7E9BBA3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0"/>
            <a:ext cx="7560115" cy="5149101"/>
            <a:chOff x="7463258" y="583365"/>
            <a:chExt cx="7560115" cy="5181928"/>
          </a:xfrm>
        </p:grpSpPr>
        <p:sp>
          <p:nvSpPr>
            <p:cNvPr id="2068" name="Rectangle 2067">
              <a:extLst>
                <a:ext uri="{FF2B5EF4-FFF2-40B4-BE49-F238E27FC236}">
                  <a16:creationId xmlns:a16="http://schemas.microsoft.com/office/drawing/2014/main" id="{F57821D8-3BF6-4948-8A87-8BBC164E4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Rectangle 2068">
              <a:extLst>
                <a:ext uri="{FF2B5EF4-FFF2-40B4-BE49-F238E27FC236}">
                  <a16:creationId xmlns:a16="http://schemas.microsoft.com/office/drawing/2014/main" id="{90732DBE-4BC5-4FB2-8BF7-DE447BE6D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Screenshot 2024-09-24 150853">
            <a:extLst>
              <a:ext uri="{FF2B5EF4-FFF2-40B4-BE49-F238E27FC236}">
                <a16:creationId xmlns:a16="http://schemas.microsoft.com/office/drawing/2014/main" id="{FD138F45-C6B8-3B23-4143-45A0A615A3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1222" y="1353042"/>
            <a:ext cx="6282918" cy="339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070">
            <a:extLst>
              <a:ext uri="{FF2B5EF4-FFF2-40B4-BE49-F238E27FC236}">
                <a16:creationId xmlns:a16="http://schemas.microsoft.com/office/drawing/2014/main" id="{7CBA4719-C30A-462C-A3A7-5D93A2B30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F30857DA-DEF8-4780-BECA-1C2205344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70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4C7E-7B25-A2C0-1852-A7F7F0240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📊 Key Insights from Call Centre Dashboard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20DF5-0E6C-F2A0-5E14-BF1F25AA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Agent Efficiency &amp; Performance</a:t>
            </a:r>
            <a:endParaRPr lang="en-US" dirty="0"/>
          </a:p>
          <a:p>
            <a:r>
              <a:rPr lang="en-US" b="1" dirty="0"/>
              <a:t>Jim</a:t>
            </a:r>
            <a:r>
              <a:rPr lang="en-US" dirty="0"/>
              <a:t> leads in both calls answered (536) and issues resolved (485), making him a benchmark for team productivity.</a:t>
            </a:r>
          </a:p>
          <a:p>
            <a:r>
              <a:rPr lang="en-US" b="1" dirty="0"/>
              <a:t>Martha</a:t>
            </a:r>
            <a:r>
              <a:rPr lang="en-US" dirty="0"/>
              <a:t> has the highest satisfaction rating (3.47), suggesting strong customer interaction skills. </a:t>
            </a:r>
          </a:p>
          <a:p>
            <a:r>
              <a:rPr lang="en-US" b="1" dirty="0"/>
              <a:t>Joe</a:t>
            </a:r>
            <a:r>
              <a:rPr lang="en-US" dirty="0"/>
              <a:t> has the lowest satisfaction (3.33) and longest speed of answer (70.99 sec), signaling a need for coaching.</a:t>
            </a:r>
          </a:p>
          <a:p>
            <a:pPr marL="0" indent="0">
              <a:buNone/>
            </a:pPr>
            <a:r>
              <a:rPr lang="en-US" b="1" dirty="0"/>
              <a:t>Operational Trends Over Time</a:t>
            </a:r>
            <a:endParaRPr lang="en-US" dirty="0"/>
          </a:p>
          <a:p>
            <a:r>
              <a:rPr lang="en-US" dirty="0"/>
              <a:t>March saw a </a:t>
            </a:r>
            <a:r>
              <a:rPr lang="en-US" b="1" dirty="0"/>
              <a:t>slight increase in answered calls</a:t>
            </a:r>
            <a:r>
              <a:rPr lang="en-US" dirty="0"/>
              <a:t> compared to February, hinting at possible improvements in coverage.</a:t>
            </a:r>
          </a:p>
          <a:p>
            <a:r>
              <a:rPr lang="en-US" dirty="0"/>
              <a:t>However, </a:t>
            </a:r>
            <a:r>
              <a:rPr lang="en-US" b="1" dirty="0"/>
              <a:t>unanswered calls remain consistent</a:t>
            </a:r>
            <a:r>
              <a:rPr lang="en-US" dirty="0"/>
              <a:t> (310 per month), indicating a persistent capacity issue.</a:t>
            </a:r>
          </a:p>
          <a:p>
            <a:pPr marL="0" indent="0">
              <a:buNone/>
            </a:pPr>
            <a:r>
              <a:rPr lang="en-US" b="1" dirty="0"/>
              <a:t>Customer Experience</a:t>
            </a:r>
            <a:endParaRPr lang="en-US" dirty="0"/>
          </a:p>
          <a:p>
            <a:r>
              <a:rPr lang="en-US" dirty="0"/>
              <a:t>The average </a:t>
            </a:r>
            <a:r>
              <a:rPr lang="en-US" b="1" dirty="0"/>
              <a:t>Speed of Answer is 67.52 seconds</a:t>
            </a:r>
            <a:r>
              <a:rPr lang="en-US" dirty="0"/>
              <a:t>, which may be too long for high-volume support environments—opportunity to streamline call routing or staffing.</a:t>
            </a:r>
          </a:p>
          <a:p>
            <a:r>
              <a:rPr lang="en-US" b="1" dirty="0"/>
              <a:t>Satisfaction is moderate at 3.40/5</a:t>
            </a:r>
            <a:r>
              <a:rPr lang="en-US" dirty="0"/>
              <a:t>, with room to boost overall service quality through agent training and tech support improvement.</a:t>
            </a:r>
          </a:p>
          <a:p>
            <a:pPr marL="0" indent="0">
              <a:buNone/>
            </a:pPr>
            <a:r>
              <a:rPr lang="en-US" b="1" dirty="0"/>
              <a:t>Resolution Gaps</a:t>
            </a:r>
            <a:endParaRPr lang="en-US" dirty="0"/>
          </a:p>
          <a:p>
            <a:r>
              <a:rPr lang="en-US" dirty="0"/>
              <a:t>Nearly </a:t>
            </a:r>
            <a:r>
              <a:rPr lang="en-US" b="1" dirty="0"/>
              <a:t>27% of calls go unresolved</a:t>
            </a:r>
            <a:r>
              <a:rPr lang="en-US" dirty="0"/>
              <a:t>, which may impact churn and customer loyalty—this should trigger deeper root cause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64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F9D5-684E-3DBF-CA5A-32EB8AA59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Recommendations for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7832-9D2A-5056-693D-1648E80DA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Recognize top performers like Jim and Martha to reinforce productivity and customer satisfaction culture.</a:t>
            </a:r>
          </a:p>
          <a:p>
            <a:r>
              <a:rPr lang="en-US" dirty="0"/>
              <a:t>Coach underperforming agents, particularly Joe, to reduce response time and improve satisfaction.</a:t>
            </a:r>
          </a:p>
          <a:p>
            <a:r>
              <a:rPr lang="en-US" dirty="0"/>
              <a:t>Improve call handling capacity by analyzing staffing gaps, especially during peak hours with high unanswered calls.</a:t>
            </a:r>
          </a:p>
          <a:p>
            <a:r>
              <a:rPr lang="en-US" dirty="0"/>
              <a:t>Launch quality enhancement initiatives to reduce unresolved cases and uplift overall service standards.</a:t>
            </a:r>
          </a:p>
          <a:p>
            <a:r>
              <a:rPr lang="en-US" dirty="0"/>
              <a:t>Streamline call response workflows to bring average speed of answer below 60 seconds.</a:t>
            </a:r>
          </a:p>
          <a:p>
            <a:r>
              <a:rPr lang="en-US" dirty="0"/>
              <a:t>Monitor satisfaction trends continuously and integrate feedback loops for service improvement.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92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293F9-5739-C3CD-4CC7-520FF29B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71" y="1584552"/>
            <a:ext cx="9099255" cy="2537251"/>
          </a:xfrm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7200">
                <a:solidFill>
                  <a:srgbClr val="454545"/>
                </a:solidFill>
              </a:rPr>
              <a:t>Thank You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45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FEEE78B-6EC9-4EE6-B42A-C56FE0583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989D3D0-25DB-4F46-A08D-5FA66FBFDF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F2E3AD-002C-47F6-A7F8-7D07CE2BA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F26D44A-571B-4B37-B312-F1EB96D077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912A71A-A72B-4A6F-92A9-2B170CE42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2A5FDC-0CB0-426A-A974-5B7A646F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EE4FB9-7E41-4891-95F4-17C1C7506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6ADBD52-015C-4720-81DC-DF7B74FEE9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C11B5BC-8312-4E22-BD1C-DBBC0FB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7BA03B2-5DC4-462E-BA8D-2749C7B6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74C0211-75AA-454E-98D5-B47CB291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B46218-65AB-E2BB-492B-B4C7577FB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19" y="3992371"/>
            <a:ext cx="9989677" cy="11865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Let’s Connect</a:t>
            </a:r>
          </a:p>
        </p:txBody>
      </p:sp>
      <p:pic>
        <p:nvPicPr>
          <p:cNvPr id="11" name="Graphic 10">
            <a:hlinkClick r:id="rId7"/>
            <a:extLst>
              <a:ext uri="{FF2B5EF4-FFF2-40B4-BE49-F238E27FC236}">
                <a16:creationId xmlns:a16="http://schemas.microsoft.com/office/drawing/2014/main" id="{6E7E5AF8-E3DA-2679-1943-D330067355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986994" y="1258060"/>
            <a:ext cx="2315015" cy="2315015"/>
          </a:xfrm>
          <a:prstGeom prst="rect">
            <a:avLst/>
          </a:prstGeom>
        </p:spPr>
      </p:pic>
      <p:pic>
        <p:nvPicPr>
          <p:cNvPr id="5" name="Content Placeholder 4" descr="A blue circle with white letters&#10;&#10;AI-generated content may be incorrect.">
            <a:hlinkClick r:id="rId11"/>
            <a:extLst>
              <a:ext uri="{FF2B5EF4-FFF2-40B4-BE49-F238E27FC236}">
                <a16:creationId xmlns:a16="http://schemas.microsoft.com/office/drawing/2014/main" id="{25FB1B32-9921-D4AB-64B9-001E3E23BD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4974032" y="1258059"/>
            <a:ext cx="2243939" cy="2315015"/>
          </a:xfrm>
          <a:prstGeom prst="rect">
            <a:avLst/>
          </a:prstGeom>
        </p:spPr>
      </p:pic>
      <p:pic>
        <p:nvPicPr>
          <p:cNvPr id="8" name="Picture 7" descr="A black cat in a circle&#10;&#10;AI-generated content may be incorrect.">
            <a:hlinkClick r:id="rId14"/>
            <a:extLst>
              <a:ext uri="{FF2B5EF4-FFF2-40B4-BE49-F238E27FC236}">
                <a16:creationId xmlns:a16="http://schemas.microsoft.com/office/drawing/2014/main" id="{639687E1-417E-F222-CE4B-00C303B56F3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7889992" y="1258059"/>
            <a:ext cx="2315015" cy="2315015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701DD5-8993-46EC-941C-86DD0188E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81200" y="5262441"/>
            <a:ext cx="8229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12920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128</TotalTime>
  <Words>787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Felix Titling</vt:lpstr>
      <vt:lpstr>Garamond</vt:lpstr>
      <vt:lpstr>Gill Sans MT</vt:lpstr>
      <vt:lpstr>Gallery</vt:lpstr>
      <vt:lpstr>Organic</vt:lpstr>
      <vt:lpstr>Power BI Job Simulation   Pwc Switzerland</vt:lpstr>
      <vt:lpstr>Introduction</vt:lpstr>
      <vt:lpstr>My Experience</vt:lpstr>
      <vt:lpstr>📞 Task 1: Analyzing Call Centre Trend</vt:lpstr>
      <vt:lpstr>Overview</vt:lpstr>
      <vt:lpstr>📚 Dataset Introduction</vt:lpstr>
      <vt:lpstr>Dax used</vt:lpstr>
      <vt:lpstr>Dashboard</vt:lpstr>
      <vt:lpstr>📊 Key Insights from Call Centre Dashboard </vt:lpstr>
      <vt:lpstr>✅ Recommendations for Stakeholders</vt:lpstr>
      <vt:lpstr>Thank You</vt:lpstr>
      <vt:lpstr>Let’s Connect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Kumar</dc:creator>
  <cp:lastModifiedBy>Shubham Kumar</cp:lastModifiedBy>
  <cp:revision>4</cp:revision>
  <dcterms:created xsi:type="dcterms:W3CDTF">2025-07-01T11:47:03Z</dcterms:created>
  <dcterms:modified xsi:type="dcterms:W3CDTF">2025-07-02T01:02:45Z</dcterms:modified>
</cp:coreProperties>
</file>