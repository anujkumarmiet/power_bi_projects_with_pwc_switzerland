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11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55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50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57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04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45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7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98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2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29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95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5DDD5-9DA0-4EFA-BD1B-84A6EF7B901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7764099-BAA3-40D6-812B-EF2CD01CF30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12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F7ECBB-B15C-A421-DC3A-9560F1CDE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chemeClr val="tx2"/>
                </a:solidFill>
              </a:rPr>
              <a:t>Power BI Job Simulation </a:t>
            </a:r>
            <a:br>
              <a:rPr lang="en-IN" sz="5600">
                <a:solidFill>
                  <a:schemeClr val="tx2"/>
                </a:solidFill>
              </a:rPr>
            </a:br>
            <a:r>
              <a:rPr lang="en-IN" sz="5600">
                <a:solidFill>
                  <a:schemeClr val="tx2"/>
                </a:solidFill>
              </a:rPr>
              <a:t> Pwc Switzerland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7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353B-F50A-6693-F4A4-A4D9C56F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CBF8-8A4B-034B-9D84-7868CD943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report presents the outcomes and insights gained from completing the </a:t>
            </a:r>
            <a:r>
              <a:rPr lang="en-US" b="1" dirty="0"/>
              <a:t>Power BI Job Simulation with PwC Switzerland</a:t>
            </a:r>
            <a:r>
              <a:rPr lang="en-US" dirty="0"/>
              <a:t>. The simulation provided a hands-on experience that mirrors real-world business scenarios, enabling me to step into the role of a data analyst tasked with transforming raw data into actionable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15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3D90-6CE5-CBA9-0B8E-9C753DC5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3A7C6-25FF-22D6-8C5E-60B34586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program, I was exposed to PwC’s approach to solving client challenges through data-driven storytelling and interactive dashboards. Using Microsoft Power BI, I analyzed customer trends, developed visualizations, and derived actionable insights to improve client decision-making and operational strategies. </a:t>
            </a:r>
          </a:p>
          <a:p>
            <a:r>
              <a:rPr lang="en-US" dirty="0"/>
              <a:t>This simulation not only strengthened my technical proficiency but also sharpened my ability to align analytics with business needs. Which is an essential skill in today’s data-centric world.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68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4AE6ED-B156-ED72-5522-2B6A7BF99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5600">
                <a:solidFill>
                  <a:schemeClr val="tx2"/>
                </a:solidFill>
              </a:rPr>
              <a:t>🔄 Task 2: Customer Retention Analysis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7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199-3E26-8A34-637E-F7E9914AB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26ED3-D93D-3A21-BF42-8B12BE1AF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task focused on analyzing customer churn patterns to support strategic retention planning. Using Power BI, I transformed raw customer data into a visual narrative that revealed key drivers of attrition and revenue impact.</a:t>
            </a:r>
          </a:p>
          <a:p>
            <a:r>
              <a:rPr lang="en-US" dirty="0"/>
              <a:t>The objective was to equip stakeholders with insights into churn behavior across demographics, billing preferences, service usage, and subscription history. By identifying at-risk customer segments and high-impact variables, the dashboard enabled data-driven strategies for targeted interventions, personalized engagement, and long-term loyalty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3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20815-BF6B-3635-CDAD-1FB151C0A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📚 Dataset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D50D4-CB9F-A10F-4E05-C4EF01050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The dataset used for this analysis focuses on customer retention and churn behavior, comprising approximately </a:t>
            </a:r>
            <a:r>
              <a:rPr lang="en-US" b="1" dirty="0"/>
              <a:t>162,000 records</a:t>
            </a:r>
            <a:r>
              <a:rPr lang="en-US" dirty="0"/>
              <a:t> and </a:t>
            </a:r>
            <a:r>
              <a:rPr lang="en-US" b="1" dirty="0"/>
              <a:t>23 attributes</a:t>
            </a:r>
            <a:r>
              <a:rPr lang="en-US" dirty="0"/>
              <a:t>. Each row captures detailed information about individual customers, offering a comprehensive view of user demographics, service usage, billing preferences, and engagement history.</a:t>
            </a:r>
          </a:p>
          <a:p>
            <a:pPr marL="0" indent="0">
              <a:buNone/>
            </a:pPr>
            <a:r>
              <a:rPr lang="en-US" dirty="0"/>
              <a:t>Key features of the dataset include:</a:t>
            </a:r>
          </a:p>
          <a:p>
            <a:r>
              <a:rPr lang="en-US" b="1" dirty="0"/>
              <a:t>Customer ID</a:t>
            </a:r>
            <a:r>
              <a:rPr lang="en-US" dirty="0"/>
              <a:t> – Unique alphanumeric identifier for each customer</a:t>
            </a:r>
          </a:p>
          <a:p>
            <a:r>
              <a:rPr lang="en-US" b="1" dirty="0"/>
              <a:t>Gender</a:t>
            </a:r>
            <a:r>
              <a:rPr lang="en-US" dirty="0"/>
              <a:t> – Categorical attribute: Male or Female</a:t>
            </a:r>
          </a:p>
          <a:p>
            <a:r>
              <a:rPr lang="en-US" b="1" dirty="0"/>
              <a:t>Senior Citizen</a:t>
            </a:r>
            <a:r>
              <a:rPr lang="en-US" dirty="0"/>
              <a:t> – Binary indicator of age group (0 = No, 1 = Yes)</a:t>
            </a:r>
          </a:p>
          <a:p>
            <a:r>
              <a:rPr lang="en-US" b="1" dirty="0"/>
              <a:t>Payment Method, Monthly Charge, Total Charge</a:t>
            </a:r>
            <a:r>
              <a:rPr lang="en-US" dirty="0"/>
              <a:t> – Billing details used to assess revenue impact</a:t>
            </a:r>
          </a:p>
          <a:p>
            <a:r>
              <a:rPr lang="en-US" b="1" dirty="0"/>
              <a:t>Paperless Billing</a:t>
            </a:r>
            <a:r>
              <a:rPr lang="en-US" dirty="0"/>
              <a:t> – Indicates if the customer has opted for paperless communication</a:t>
            </a:r>
          </a:p>
          <a:p>
            <a:r>
              <a:rPr lang="en-US" b="1" dirty="0"/>
              <a:t>Number of Technical &amp; Admin Tickets</a:t>
            </a:r>
            <a:r>
              <a:rPr lang="en-US" dirty="0"/>
              <a:t> – Reflects support engagement level and possible service issues</a:t>
            </a:r>
          </a:p>
          <a:p>
            <a:r>
              <a:rPr lang="en-US" b="1" dirty="0"/>
              <a:t>Churn</a:t>
            </a:r>
            <a:r>
              <a:rPr lang="en-US" dirty="0"/>
              <a:t> – Target variable indicating whether a customer has discontinued the service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88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CD90D-762D-14E5-49BD-28728846E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100" dirty="0"/>
              <a:t>Dashboard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creenshot 2024-09-24 151501">
            <a:extLst>
              <a:ext uri="{FF2B5EF4-FFF2-40B4-BE49-F238E27FC236}">
                <a16:creationId xmlns:a16="http://schemas.microsoft.com/office/drawing/2014/main" id="{A2303DA9-993C-24D5-B726-FA3E1FDD5F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8374" y="1290214"/>
            <a:ext cx="6282919" cy="351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8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1714-4957-E9C2-630D-6C48B9E9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Key Insights from Churn Dashboard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B10A5-049A-DF9F-05C1-53BF9971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High-Risk Segment Needs Attention</a:t>
            </a:r>
            <a:endParaRPr lang="en-US" sz="1400" dirty="0"/>
          </a:p>
          <a:p>
            <a:r>
              <a:rPr lang="en-US" sz="1400" b="1" dirty="0"/>
              <a:t>1,869 customers</a:t>
            </a:r>
            <a:r>
              <a:rPr lang="en-US" sz="1400" dirty="0"/>
              <a:t> are currently at risk of churning—a critical segment for immediate retention efforts.</a:t>
            </a:r>
          </a:p>
          <a:p>
            <a:r>
              <a:rPr lang="en-US" sz="1400" dirty="0"/>
              <a:t>Most customers (53%) have been subscribed for </a:t>
            </a:r>
            <a:r>
              <a:rPr lang="en-US" sz="1400" b="1" dirty="0"/>
              <a:t>less than a year</a:t>
            </a:r>
            <a:r>
              <a:rPr lang="en-US" sz="1400" dirty="0"/>
              <a:t>, signaling low tenure as a churn trigger.</a:t>
            </a:r>
          </a:p>
          <a:p>
            <a:pPr marL="0" indent="0">
              <a:buNone/>
            </a:pPr>
            <a:r>
              <a:rPr lang="en-US" sz="1400" b="1" dirty="0"/>
              <a:t>Revenue Impact &amp; Billing Patterns</a:t>
            </a:r>
            <a:endParaRPr lang="en-US" sz="1400" dirty="0"/>
          </a:p>
          <a:p>
            <a:r>
              <a:rPr lang="en-US" sz="1400" b="1" dirty="0"/>
              <a:t>Yearly charges total $2.86M</a:t>
            </a:r>
            <a:r>
              <a:rPr lang="en-US" sz="1400" dirty="0"/>
              <a:t>, with an average </a:t>
            </a:r>
            <a:r>
              <a:rPr lang="en-US" sz="1400" b="1" dirty="0"/>
              <a:t>monthly charge of $74.44</a:t>
            </a:r>
            <a:r>
              <a:rPr lang="en-US" sz="1400" dirty="0"/>
              <a:t>.</a:t>
            </a:r>
          </a:p>
          <a:p>
            <a:r>
              <a:rPr lang="en-US" sz="1400" b="1" dirty="0"/>
              <a:t>89% of contracts are month-to-month</a:t>
            </a:r>
            <a:r>
              <a:rPr lang="en-US" sz="1400" dirty="0"/>
              <a:t>, often linked to higher churn propensity.</a:t>
            </a:r>
          </a:p>
          <a:p>
            <a:r>
              <a:rPr lang="en-US" sz="1400" b="1" dirty="0"/>
              <a:t>57% of users pay via electronic checks</a:t>
            </a:r>
            <a:r>
              <a:rPr lang="en-US" sz="1400" dirty="0"/>
              <a:t>, which may correlate with lower customer loyalty compared to credit-based payments.</a:t>
            </a:r>
          </a:p>
        </p:txBody>
      </p:sp>
    </p:spTree>
    <p:extLst>
      <p:ext uri="{BB962C8B-B14F-4D97-AF65-F5344CB8AC3E}">
        <p14:creationId xmlns:p14="http://schemas.microsoft.com/office/powerpoint/2010/main" val="324140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1403-97E1-1573-B65D-6C256966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Key Insights from Churn Dashboard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04A83-E4A7-752D-0A81-2B03171CB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Service &amp; Support Trends</a:t>
            </a:r>
            <a:endParaRPr lang="en-US" dirty="0"/>
          </a:p>
          <a:p>
            <a:r>
              <a:rPr lang="en-US" dirty="0"/>
              <a:t>High volume of support activity: </a:t>
            </a:r>
            <a:r>
              <a:rPr lang="en-US" b="1" dirty="0"/>
              <a:t>2,173 tech tickets</a:t>
            </a:r>
            <a:r>
              <a:rPr lang="en-US" dirty="0"/>
              <a:t> and </a:t>
            </a:r>
            <a:r>
              <a:rPr lang="en-US" b="1" dirty="0"/>
              <a:t>885 admin tickets</a:t>
            </a:r>
            <a:r>
              <a:rPr lang="en-US" dirty="0"/>
              <a:t> suggest potential friction points in the customer journey.</a:t>
            </a:r>
          </a:p>
          <a:p>
            <a:r>
              <a:rPr lang="en-US" dirty="0"/>
              <a:t>Only </a:t>
            </a:r>
            <a:r>
              <a:rPr lang="en-US" b="1" dirty="0"/>
              <a:t>17% of customers use tech support</a:t>
            </a:r>
            <a:r>
              <a:rPr lang="en-US" dirty="0"/>
              <a:t>, hinting at underutilized or ineffective support channels.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Demographic Red Flags</a:t>
            </a:r>
            <a:endParaRPr lang="en-US" dirty="0"/>
          </a:p>
          <a:p>
            <a:r>
              <a:rPr lang="en-US" b="1" dirty="0"/>
              <a:t>25% of customers are senior citizens</a:t>
            </a:r>
            <a:r>
              <a:rPr lang="en-US" dirty="0"/>
              <a:t>, a group possibly requiring more tailored service and communication.</a:t>
            </a:r>
          </a:p>
          <a:p>
            <a:r>
              <a:rPr lang="en-US" dirty="0"/>
              <a:t>Only </a:t>
            </a:r>
            <a:r>
              <a:rPr lang="en-US" b="1" dirty="0"/>
              <a:t>17% have dependents</a:t>
            </a:r>
            <a:r>
              <a:rPr lang="en-US" dirty="0"/>
              <a:t> and </a:t>
            </a:r>
            <a:r>
              <a:rPr lang="en-US" b="1" dirty="0"/>
              <a:t>36% are partners</a:t>
            </a:r>
            <a:r>
              <a:rPr lang="en-US" dirty="0"/>
              <a:t>, suggesting a younger, more mobile customer base that may be harder to retain.</a:t>
            </a:r>
          </a:p>
          <a:p>
            <a:pPr marL="0" indent="0">
              <a:buNone/>
            </a:pPr>
            <a:r>
              <a:rPr lang="en-US" b="1" dirty="0"/>
              <a:t>Product Adoption Gaps</a:t>
            </a:r>
          </a:p>
          <a:p>
            <a:r>
              <a:rPr lang="en-US" dirty="0"/>
              <a:t>While 91% have phone service, add-ons like online security (16%) and tech support (17%) have low penetration—potential upsell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212252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6E9-A639-F2FB-AC3C-DD1E8506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Recommendations for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F2F31-925B-ED10-2F7E-A2D406672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Launch proactive retention campaigns targeting the 1,869 high-risk customers—prioritize those with month-to-month contracts and low tenure.</a:t>
            </a:r>
          </a:p>
          <a:p>
            <a:r>
              <a:rPr lang="en-US" dirty="0"/>
              <a:t>Promote long-term contracts through personalized offers or incentives to reduce churn volatility.</a:t>
            </a:r>
          </a:p>
          <a:p>
            <a:r>
              <a:rPr lang="en-US" dirty="0"/>
              <a:t>Revamp support services by investigating pain points indicated by high support ticket volume—optimize resolution time and quality.</a:t>
            </a:r>
          </a:p>
          <a:p>
            <a:r>
              <a:rPr lang="en-US" dirty="0"/>
              <a:t>Reassess billing preferences and explore smoother alternatives for users paying via electronic check, potentially linked to lower retention.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53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94F3-E55C-52E8-71BB-D4F636B7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Recommendations for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D0BCF-C8BA-EF1A-ABE9-474A3DA76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Upsell underutilized services like online security and tech support to increase customer stickiness and perceived value.</a:t>
            </a:r>
          </a:p>
          <a:p>
            <a:r>
              <a:rPr lang="en-US" dirty="0"/>
              <a:t>Tailor engagement strategies for senior citizens and single-person households with focused communication and service bundles.</a:t>
            </a:r>
          </a:p>
          <a:p>
            <a:r>
              <a:rPr lang="en-US" dirty="0"/>
              <a:t>Use churn insights in pricing decisions, balancing monthly charge competitiveness with retention impact.</a:t>
            </a:r>
          </a:p>
        </p:txBody>
      </p:sp>
    </p:spTree>
    <p:extLst>
      <p:ext uri="{BB962C8B-B14F-4D97-AF65-F5344CB8AC3E}">
        <p14:creationId xmlns:p14="http://schemas.microsoft.com/office/powerpoint/2010/main" val="1416294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0E33EE-EF08-8E0C-4F7C-48B8F1F0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6000">
                <a:solidFill>
                  <a:schemeClr val="tx2"/>
                </a:solidFill>
              </a:rPr>
              <a:t>Thank You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9446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61</TotalTime>
  <Words>744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Power BI Job Simulation   Pwc Switzerland</vt:lpstr>
      <vt:lpstr>Introduction</vt:lpstr>
      <vt:lpstr>My Experience</vt:lpstr>
      <vt:lpstr>🔄 Task 2: Customer Retention Analysis</vt:lpstr>
      <vt:lpstr>Overview</vt:lpstr>
      <vt:lpstr>📚 Dataset Introduction</vt:lpstr>
      <vt:lpstr>Dashboard</vt:lpstr>
      <vt:lpstr>📊 Key Insights from Churn Dashboard </vt:lpstr>
      <vt:lpstr>📊 Key Insights from Churn Dashboard </vt:lpstr>
      <vt:lpstr>✅ Recommendations for Stakeholders</vt:lpstr>
      <vt:lpstr>✅ Recommendations for Stakeholders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</dc:creator>
  <cp:lastModifiedBy>Shubham Kumar</cp:lastModifiedBy>
  <cp:revision>1</cp:revision>
  <dcterms:created xsi:type="dcterms:W3CDTF">2025-07-01T12:34:19Z</dcterms:created>
  <dcterms:modified xsi:type="dcterms:W3CDTF">2025-07-01T13:35:29Z</dcterms:modified>
</cp:coreProperties>
</file>