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19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76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73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0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07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18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8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4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83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31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2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D821D-8C7F-4801-8693-D7829E7087AF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256659-0BB7-4E63-BEB1-09E91D6BA1A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47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7ECBB-B15C-A421-DC3A-9560F1CDE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454545"/>
                </a:solidFill>
              </a:rPr>
              <a:t>Power BI Job Simulation </a:t>
            </a:r>
            <a:br>
              <a:rPr lang="en-IN" sz="5600">
                <a:solidFill>
                  <a:srgbClr val="454545"/>
                </a:solidFill>
              </a:rPr>
            </a:br>
            <a:r>
              <a:rPr lang="en-IN" sz="5600">
                <a:solidFill>
                  <a:srgbClr val="454545"/>
                </a:solidFill>
              </a:rPr>
              <a:t> Pwc Switzerland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575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353B-F50A-6693-F4A4-A4D9C56F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CBF8-8A4B-034B-9D84-7868CD94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report presents the outcomes and insights gained from completing the </a:t>
            </a:r>
            <a:r>
              <a:rPr lang="en-US" b="1" dirty="0"/>
              <a:t>Power BI Job Simulation with PwC Switzerland</a:t>
            </a:r>
            <a:r>
              <a:rPr lang="en-US" dirty="0"/>
              <a:t>. The simulation provided a hands-on experience that mirrors real-world business scenarios, enabling me to step into the role of a data analyst tasked with transforming raw data into actionable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15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3D90-6CE5-CBA9-0B8E-9C753DC5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3A7C6-25FF-22D6-8C5E-60B34586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program, I was exposed to PwC’s approach to solving client challenges through data-driven storytelling and interactive dashboards. Using Microsoft Power BI, I analyzed customer trends, developed visualizations, and derived actionable insights to improve client decision-making and operational strategies. </a:t>
            </a:r>
          </a:p>
          <a:p>
            <a:r>
              <a:rPr lang="en-US" dirty="0"/>
              <a:t>This simulation not only strengthened my technical proficiency but also sharpened my ability to align analytics with business needs. Which is an essential skill in today’s data-centric world.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68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CF3F9D-A4FC-51BC-0B9F-A52C0902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5600">
                <a:solidFill>
                  <a:schemeClr val="tx2"/>
                </a:solidFill>
              </a:rPr>
              <a:t>🌍 Task 4: Diversity &amp; Inclusion Analysis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5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D15F-5D90-1D4E-F21D-FB8F7C32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B92F-12D1-325D-F1F8-95AC1B33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final task of the simulation, the focus shifted to analyzing workforce diversity metrics to support equitable decision-making and inclusive strategy development. Using Power BI, I designed a dashboard that brought visibility into representation gaps, performance disparities, and promotion trends across key demographic dimensions.</a:t>
            </a:r>
          </a:p>
          <a:p>
            <a:r>
              <a:rPr lang="en-US" dirty="0"/>
              <a:t>The goal was to equip stakeholders with a transparent view of gender balance, age distribution, and performance outcomes across job roles and business units. By surfacing these insights, the dashboard empowered leadership to make data-informed decisions around hiring practices, career progression, and retention strategies, ensuring alignment with broader Diversity, Equity, and Inclusion (DEI) goals.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15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E05F-9F1E-757E-3810-772E54DE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📚 Dataset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3989D-2941-46B2-32E4-F964B7F2D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The dataset used for this analysis consists of approximately </a:t>
            </a:r>
            <a:r>
              <a:rPr lang="en-US" b="1" dirty="0"/>
              <a:t>15,000 employee records</a:t>
            </a:r>
            <a:r>
              <a:rPr lang="en-US" dirty="0"/>
              <a:t> with </a:t>
            </a:r>
            <a:r>
              <a:rPr lang="en-US" b="1" dirty="0"/>
              <a:t>32 column attributes</a:t>
            </a:r>
            <a:r>
              <a:rPr lang="en-US" dirty="0"/>
              <a:t>, offering a comprehensive view of workforce dynamics across gender, job levels, performance, promotions, and attrition. It serves as a powerful tool for uncovering trends that impact diversity, equity, and inclusion within the organization.</a:t>
            </a:r>
          </a:p>
          <a:p>
            <a:pPr marL="0" indent="0">
              <a:buNone/>
            </a:pPr>
            <a:r>
              <a:rPr lang="en-US" dirty="0"/>
              <a:t>🧩 Key Attributes Include:</a:t>
            </a:r>
          </a:p>
          <a:p>
            <a:r>
              <a:rPr lang="en-US" b="1" dirty="0"/>
              <a:t>Employee ID</a:t>
            </a:r>
            <a:r>
              <a:rPr lang="en-US" dirty="0"/>
              <a:t> – Unique identifier for each employee.</a:t>
            </a:r>
          </a:p>
          <a:p>
            <a:r>
              <a:rPr lang="en-US" b="1" dirty="0"/>
              <a:t>Gender</a:t>
            </a:r>
            <a:r>
              <a:rPr lang="en-US" dirty="0"/>
              <a:t> – Classification of employees by gender.</a:t>
            </a:r>
          </a:p>
          <a:p>
            <a:r>
              <a:rPr lang="en-US" b="1" dirty="0"/>
              <a:t>Job Level after FY20 Promotions</a:t>
            </a:r>
            <a:r>
              <a:rPr lang="en-US" dirty="0"/>
              <a:t> – Categorized into Junior Officer, Manager, Director, Senior Manager, and Executive.</a:t>
            </a:r>
          </a:p>
          <a:p>
            <a:r>
              <a:rPr lang="en-US" b="1" dirty="0"/>
              <a:t>New Hire in FY20 (Y/N)</a:t>
            </a:r>
            <a:r>
              <a:rPr lang="en-US" dirty="0"/>
              <a:t> – Indicates whether the employee was hired during FY20.</a:t>
            </a:r>
          </a:p>
          <a:p>
            <a:r>
              <a:rPr lang="en-US" b="1" dirty="0"/>
              <a:t>FY20 Performance Rating</a:t>
            </a:r>
            <a:r>
              <a:rPr lang="en-US" dirty="0"/>
              <a:t> – Evaluation score or category assigned for FY20.</a:t>
            </a:r>
          </a:p>
          <a:p>
            <a:r>
              <a:rPr lang="en-US" b="1" dirty="0"/>
              <a:t>Promotion in FY21</a:t>
            </a:r>
            <a:r>
              <a:rPr lang="en-US" dirty="0"/>
              <a:t> – Denotes whether the employee received a promotion in the following fiscal year.</a:t>
            </a:r>
          </a:p>
          <a:p>
            <a:r>
              <a:rPr lang="en-US" b="1" dirty="0"/>
              <a:t>Target Hire Balance</a:t>
            </a:r>
            <a:r>
              <a:rPr lang="en-US" dirty="0"/>
              <a:t> – Reference metric used to measure workforce composition goals.</a:t>
            </a:r>
          </a:p>
          <a:p>
            <a:r>
              <a:rPr lang="en-US" b="1" dirty="0"/>
              <a:t>FY20 Leaver</a:t>
            </a:r>
            <a:r>
              <a:rPr lang="en-US" dirty="0"/>
              <a:t> – Identifies if the employee exited the organization during FY20.</a:t>
            </a:r>
          </a:p>
          <a:p>
            <a:r>
              <a:rPr lang="en-US" b="1" dirty="0"/>
              <a:t>Job Level after FY21 Promotions</a:t>
            </a:r>
            <a:r>
              <a:rPr lang="en-US" dirty="0"/>
              <a:t> – Captures progression trends post-FY21 evaluations.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52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DD710-6743-70FA-47B2-7456FF38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 dirty="0"/>
              <a:t>Dashboards 1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B823F9-4BB5-A8CD-CF64-F32EC41214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374" y="1337336"/>
            <a:ext cx="6282919" cy="342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265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B72E-2F6F-A6D8-15EC-F1AE37C9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Diversity &amp; Inclusion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04C5-2919-13C2-2833-39A182638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900" b="1" dirty="0"/>
              <a:t>Gender Disparities in Leadership</a:t>
            </a:r>
            <a:endParaRPr lang="en-US" sz="4900" dirty="0"/>
          </a:p>
          <a:p>
            <a:r>
              <a:rPr lang="en-US" sz="4900" b="1" dirty="0"/>
              <a:t>Females are underrepresented</a:t>
            </a:r>
            <a:r>
              <a:rPr lang="en-US" sz="4900" dirty="0"/>
              <a:t> at senior leadership levels (Senior Manager, Executive), despite balanced entry-level hiring.</a:t>
            </a:r>
          </a:p>
          <a:p>
            <a:r>
              <a:rPr lang="en-US" sz="4900" dirty="0"/>
              <a:t>While promotions exist, the </a:t>
            </a:r>
            <a:r>
              <a:rPr lang="en-US" sz="4900" b="1" dirty="0"/>
              <a:t>pace of advancement for women appears slower</a:t>
            </a:r>
            <a:r>
              <a:rPr lang="en-US" sz="4900" dirty="0"/>
              <a:t>, indicating potential growth barriers.</a:t>
            </a:r>
          </a:p>
          <a:p>
            <a:pPr marL="0" indent="0">
              <a:buNone/>
            </a:pPr>
            <a:r>
              <a:rPr lang="en-US" sz="4900" b="1" dirty="0"/>
              <a:t>FY21 Promotions &amp; Performance</a:t>
            </a:r>
            <a:endParaRPr lang="en-US" sz="4900" dirty="0"/>
          </a:p>
          <a:p>
            <a:r>
              <a:rPr lang="en-US" sz="4900" dirty="0"/>
              <a:t>A majority of FY21 promotions were granted to those with </a:t>
            </a:r>
            <a:r>
              <a:rPr lang="en-US" sz="4900" b="1" dirty="0"/>
              <a:t>high FY20 performance ratings</a:t>
            </a:r>
            <a:r>
              <a:rPr lang="en-US" sz="4900" dirty="0"/>
              <a:t>, affirming a merit-based trend.</a:t>
            </a:r>
          </a:p>
          <a:p>
            <a:r>
              <a:rPr lang="en-US" sz="4900" dirty="0"/>
              <a:t>However, deeper analysis reveals </a:t>
            </a:r>
            <a:r>
              <a:rPr lang="en-US" sz="4900" b="1" dirty="0"/>
              <a:t>inconsistencies across gender and business units</a:t>
            </a:r>
            <a:r>
              <a:rPr lang="en-US" sz="4900" dirty="0"/>
              <a:t>, raising questions about evaluation fairness.</a:t>
            </a:r>
          </a:p>
          <a:p>
            <a:pPr marL="0" indent="0">
              <a:buNone/>
            </a:pPr>
            <a:r>
              <a:rPr lang="en-US" sz="4900" b="1" dirty="0"/>
              <a:t>Attrition Trends</a:t>
            </a:r>
            <a:endParaRPr lang="en-US" sz="4900" dirty="0"/>
          </a:p>
          <a:p>
            <a:r>
              <a:rPr lang="en-US" sz="4900" b="1" dirty="0"/>
              <a:t>Leaver rates are higher among certain job levels and genders</a:t>
            </a:r>
            <a:r>
              <a:rPr lang="en-US" sz="4900" dirty="0"/>
              <a:t>, which may signal culture or policy misalignments.</a:t>
            </a:r>
          </a:p>
          <a:p>
            <a:r>
              <a:rPr lang="en-US" sz="4900" dirty="0"/>
              <a:t>The </a:t>
            </a:r>
            <a:r>
              <a:rPr lang="en-US" sz="4900" b="1" dirty="0"/>
              <a:t>exit patterns skew towards junior roles</a:t>
            </a:r>
            <a:r>
              <a:rPr lang="en-US" sz="4900" dirty="0"/>
              <a:t>, suggesting a possible gap in early-career support or satisfaction.</a:t>
            </a:r>
          </a:p>
          <a:p>
            <a:pPr marL="0" indent="0">
              <a:buNone/>
            </a:pPr>
            <a:r>
              <a:rPr lang="en-US" sz="4900" b="1" dirty="0"/>
              <a:t>Hiring Balance vs. Target Goals</a:t>
            </a:r>
            <a:endParaRPr lang="en-US" sz="4900" dirty="0"/>
          </a:p>
          <a:p>
            <a:r>
              <a:rPr lang="en-US" sz="4900" dirty="0"/>
              <a:t>Some business units missed the </a:t>
            </a:r>
            <a:r>
              <a:rPr lang="en-US" sz="4900" b="1" dirty="0"/>
              <a:t>target gender hiring balance</a:t>
            </a:r>
            <a:r>
              <a:rPr lang="en-US" sz="4900" dirty="0"/>
              <a:t>, highlighting the need for more deliberate inclusion efforts in recruitment.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701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B8A9-ED25-7C24-6C37-2B6B98DE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Recommendations for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0763-1CCD-200E-F3C3-DDA7DD97B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Accelerate leadership development programs for women to address underrepresentation in senior roles and foster balanced progression.</a:t>
            </a:r>
          </a:p>
          <a:p>
            <a:r>
              <a:rPr lang="en-US" dirty="0"/>
              <a:t>Audit promotion criteria and evaluation processes to ensure performance ratings and advancement are equitably distributed across gender and units.</a:t>
            </a:r>
          </a:p>
          <a:p>
            <a:r>
              <a:rPr lang="en-US" dirty="0"/>
              <a:t>Strengthen early-career support, especially in junior roles where attrition is highest, through mentoring and growth pathways.</a:t>
            </a:r>
          </a:p>
          <a:p>
            <a:r>
              <a:rPr lang="en-US" dirty="0"/>
              <a:t>Enhance inclusive hiring practices by aligning recruitment efforts with gender balance targets across all business units.</a:t>
            </a:r>
          </a:p>
          <a:p>
            <a:r>
              <a:rPr lang="en-US" dirty="0"/>
              <a:t>Introduce pulse surveys or exit interviews focused on underrepresented groups to uncover retention challenges and policy gaps.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62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81E9D-08E0-80F8-0EBC-FD835432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 dirty="0"/>
              <a:t>Dashboards 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C30B3-F5E7-4519-B4CC-96B296830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374" y="1329482"/>
            <a:ext cx="6282919" cy="343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38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316DB-7270-90A7-2BD9-08196EC4A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Diversity &amp; Inclusion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3F12-BE62-1AFE-05C3-71A72674C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500" b="1" dirty="0"/>
              <a:t>Executive Gender Imbalance</a:t>
            </a:r>
            <a:endParaRPr lang="en-US" sz="2500" dirty="0"/>
          </a:p>
          <a:p>
            <a:r>
              <a:rPr lang="en-US" sz="2500" dirty="0"/>
              <a:t>Women remain </a:t>
            </a:r>
            <a:r>
              <a:rPr lang="en-US" sz="2500" b="1" dirty="0"/>
              <a:t>underrepresented in executive roles</a:t>
            </a:r>
            <a:r>
              <a:rPr lang="en-US" sz="2500" dirty="0"/>
              <a:t>: only 15.8% of executives in FY21 were female, a modest rise from 12.5% in FY20.</a:t>
            </a:r>
          </a:p>
          <a:p>
            <a:r>
              <a:rPr lang="en-US" sz="2500" dirty="0"/>
              <a:t>All executive hires and promotions in FY20 were male, highlighting a </a:t>
            </a:r>
            <a:r>
              <a:rPr lang="en-US" sz="2500" b="1" dirty="0"/>
              <a:t>critical gap in upward mobility for women</a:t>
            </a:r>
            <a:r>
              <a:rPr lang="en-US" sz="2500" dirty="0"/>
              <a:t>.</a:t>
            </a:r>
          </a:p>
          <a:p>
            <a:pPr marL="0" indent="0">
              <a:buNone/>
            </a:pPr>
            <a:r>
              <a:rPr lang="en-US" sz="2500" b="1" dirty="0"/>
              <a:t>Performance Ratings by Gender</a:t>
            </a:r>
            <a:endParaRPr lang="en-US" sz="2500" dirty="0"/>
          </a:p>
          <a:p>
            <a:r>
              <a:rPr lang="en-US" sz="2500" b="1" dirty="0"/>
              <a:t>Performance ratings are nearly equal</a:t>
            </a:r>
            <a:r>
              <a:rPr lang="en-US" sz="2500" dirty="0"/>
              <a:t> between genders overall (avg. 2.42 for women vs. 2.41 for men), suggesting equitable evaluations at the surface.</a:t>
            </a:r>
          </a:p>
          <a:p>
            <a:r>
              <a:rPr lang="en-US" sz="2500" dirty="0"/>
              <a:t>However, </a:t>
            </a:r>
            <a:r>
              <a:rPr lang="en-US" sz="2500" b="1" dirty="0"/>
              <a:t>fewer women receive top ratings</a:t>
            </a:r>
            <a:r>
              <a:rPr lang="en-US" sz="2500" dirty="0"/>
              <a:t> (Rating 1: 5% female vs. 5% male; Rating 3: 38% female vs. 36% male)—indicating potential subtle biases in recognition or opportunity.</a:t>
            </a:r>
          </a:p>
        </p:txBody>
      </p:sp>
    </p:spTree>
    <p:extLst>
      <p:ext uri="{BB962C8B-B14F-4D97-AF65-F5344CB8AC3E}">
        <p14:creationId xmlns:p14="http://schemas.microsoft.com/office/powerpoint/2010/main" val="292724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408A-BB6D-43CF-3594-B139D3AB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D6EC-51F4-B344-7E4C-F75878A4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Diversity &amp; Inclusion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F2F5-8E3F-E444-464C-9DEAA4C74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500" b="1" dirty="0"/>
              <a:t>Age Demographics and Leadership</a:t>
            </a:r>
            <a:endParaRPr lang="en-US" sz="2500" dirty="0"/>
          </a:p>
          <a:p>
            <a:r>
              <a:rPr lang="en-US" sz="2500" dirty="0"/>
              <a:t>The majority of employees fall between the </a:t>
            </a:r>
            <a:r>
              <a:rPr lang="en-US" sz="2500" b="1" dirty="0"/>
              <a:t>ages of 20–39 (88%)</a:t>
            </a:r>
            <a:r>
              <a:rPr lang="en-US" sz="2500" dirty="0"/>
              <a:t>, emphasizing a predominantly younger workforce.</a:t>
            </a:r>
          </a:p>
          <a:p>
            <a:r>
              <a:rPr lang="en-US" sz="2500" dirty="0"/>
              <a:t>Executives are primarily aged </a:t>
            </a:r>
            <a:r>
              <a:rPr lang="en-US" sz="2500" b="1" dirty="0"/>
              <a:t>30–39 (68.4%)</a:t>
            </a:r>
            <a:r>
              <a:rPr lang="en-US" sz="2500" dirty="0"/>
              <a:t>, but a notable 10.5% are as young as </a:t>
            </a:r>
            <a:r>
              <a:rPr lang="en-US" sz="2500" b="1" dirty="0"/>
              <a:t>16–19</a:t>
            </a:r>
            <a:r>
              <a:rPr lang="en-US" sz="2500" dirty="0"/>
              <a:t>, which may raise concerns about role maturity or label misclassification.</a:t>
            </a:r>
          </a:p>
          <a:p>
            <a:pPr marL="0" indent="0">
              <a:buNone/>
            </a:pPr>
            <a:r>
              <a:rPr lang="en-US" sz="2500" b="1" dirty="0"/>
              <a:t>Age Group vs. Job Level Trends</a:t>
            </a:r>
            <a:endParaRPr lang="en-US" sz="2500" dirty="0"/>
          </a:p>
          <a:p>
            <a:r>
              <a:rPr lang="en-US" sz="2500" dirty="0"/>
              <a:t>Higher-level roles (Director, Senior Manager) skew slightly older (30–49), showing a traditional pipeline.</a:t>
            </a:r>
          </a:p>
          <a:p>
            <a:r>
              <a:rPr lang="en-US" sz="2500" b="1" dirty="0"/>
              <a:t>Junior and Senior Officer roles</a:t>
            </a:r>
            <a:r>
              <a:rPr lang="en-US" sz="2500" dirty="0"/>
              <a:t> are filled mostly by younger employees (20–29), providing a strong bench for leadership grooming.</a:t>
            </a: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26582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965B-E2C1-2912-1FE1-F84818AF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Recommendations for Stakeholders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88D1-A4E8-565B-2617-49E87399E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Implement executive mentorship pipelines to support high-performing women into leadership roles and balance gender representation at the top.</a:t>
            </a:r>
          </a:p>
          <a:p>
            <a:r>
              <a:rPr lang="en-US" dirty="0"/>
              <a:t>Review hiring and promotion policies to ensure equal access and transparency, especially in senior roles where past patterns show exclusion.</a:t>
            </a:r>
          </a:p>
          <a:p>
            <a:r>
              <a:rPr lang="en-US" dirty="0"/>
              <a:t>Validate performance review systems to detect and mitigate potential gender-based evaluation biases despite similar average ratings.</a:t>
            </a:r>
          </a:p>
          <a:p>
            <a:r>
              <a:rPr lang="en-US" dirty="0"/>
              <a:t>Reassess youth-to-executive pathways, as the presence of executives aged 16–19 may reflect mislabeling or unintended role inflation.</a:t>
            </a:r>
          </a:p>
          <a:p>
            <a:r>
              <a:rPr lang="en-US" dirty="0"/>
              <a:t>Incentivize diverse hiring at the leadership level through inclusive outreach strategies, succession planning, and cross-functional exposure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630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E3007-B037-7771-140E-5211CE6C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3A6E1646-EE1E-2CBB-74A0-8B93A3615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6747" y="1116345"/>
            <a:ext cx="3866172" cy="38661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9327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43</TotalTime>
  <Words>1047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Power BI Job Simulation   Pwc Switzerland</vt:lpstr>
      <vt:lpstr>Introduction</vt:lpstr>
      <vt:lpstr>My Experience</vt:lpstr>
      <vt:lpstr>🌍 Task 4: Diversity &amp; Inclusion Analysis</vt:lpstr>
      <vt:lpstr>Overview</vt:lpstr>
      <vt:lpstr>📚 Dataset Introduction</vt:lpstr>
      <vt:lpstr>Dashboards 1</vt:lpstr>
      <vt:lpstr>📊 Key Insights from Diversity &amp; Inclusion </vt:lpstr>
      <vt:lpstr>✅ Recommendations for Stakeholders</vt:lpstr>
      <vt:lpstr>Dashboards 2</vt:lpstr>
      <vt:lpstr>📊 Key Insights from Diversity &amp; Inclusion </vt:lpstr>
      <vt:lpstr>📊 Key Insights from Diversity &amp; Inclusion </vt:lpstr>
      <vt:lpstr>✅ Recommendations for Stakeholders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</dc:creator>
  <cp:lastModifiedBy>Shubham Kumar</cp:lastModifiedBy>
  <cp:revision>1</cp:revision>
  <dcterms:created xsi:type="dcterms:W3CDTF">2025-07-01T12:58:02Z</dcterms:created>
  <dcterms:modified xsi:type="dcterms:W3CDTF">2025-07-01T13:41:51Z</dcterms:modified>
</cp:coreProperties>
</file>